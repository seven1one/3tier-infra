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1494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폐쇄망 시스템 구성도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Rocky Linux 8.10  ·  Offline Environment  ·  Apache + Tomcat + PostgreSQL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1430000" cy="502920"/>
          </a:xfrm>
          <a:prstGeom prst="rect">
            <a:avLst/>
          </a:prstGeom>
          <a:solidFill>
            <a:srgbClr val="FEF3C7"/>
          </a:solidFill>
          <a:ln w="15875">
            <a:solidFill>
              <a:srgbClr val="B45309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</a:rPr>
              <a:t>관리망 (Management Network)   </a:t>
            </a:r>
            <a:r>
              <a:rPr lang="en-US" sz="1200" dirty="0">
                <a:solidFill>
                  <a:srgbClr val="1F2937"/>
                </a:solidFill>
              </a:rPr>
              <a:t>192.168.10.0/24    GW: 192.168.10.1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920240"/>
            <a:ext cx="36576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20040" y="1920240"/>
            <a:ext cx="3657600" cy="7772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84632" y="1920240"/>
            <a:ext cx="33284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</a:rPr>
              <a:t>Presentation Tier</a:t>
            </a:r>
            <a:endParaRPr lang="en-US" sz="10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WEB Server  </a:t>
            </a:r>
            <a:r>
              <a:rPr lang="en-US" sz="1200" dirty="0">
                <a:solidFill>
                  <a:srgbClr val="E0E7FF"/>
                </a:solidFill>
              </a:rPr>
              <a:t>web01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8346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4748B"/>
                </a:solidFill>
              </a:rPr>
              <a:t>Services / Role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39496" y="3172968"/>
            <a:ext cx="73152" cy="73152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85800" y="3090672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Apache HTTPD 2.4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9496" y="3419856"/>
            <a:ext cx="73152" cy="73152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85800" y="3337560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mod_proxy_ajp (→ WAS)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9496" y="3666744"/>
            <a:ext cx="73152" cy="73152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85800" y="3584448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DNF Repository (사내)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9496" y="3913632"/>
            <a:ext cx="73152" cy="73152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85800" y="3831336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NTP Server (chrony)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4123944"/>
            <a:ext cx="3291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02920" y="42336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4748B"/>
                </a:solidFill>
              </a:rPr>
              <a:t>Network  ·  bonding mode=1 (A/S)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4489704"/>
            <a:ext cx="3291840" cy="548640"/>
          </a:xfrm>
          <a:prstGeom prst="rect">
            <a:avLst/>
          </a:prstGeom>
          <a:solidFill>
            <a:srgbClr val="F8FAFC"/>
          </a:solidFill>
          <a:ln w="15875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02920" y="448970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8A"/>
                </a:solidFill>
              </a:rPr>
              <a:t>bond0</a:t>
            </a:r>
            <a:endParaRPr lang="en-US" sz="11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</a:rPr>
              <a:t>10.10.10.11 (관리)   /   10.10.10.21 (서비스)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5129784"/>
            <a:ext cx="1577340" cy="329184"/>
          </a:xfrm>
          <a:prstGeom prst="rect">
            <a:avLst/>
          </a:prstGeom>
          <a:solidFill>
            <a:srgbClr val="FFFFFF"/>
          </a:solidFill>
          <a:ln w="1905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02920" y="5129784"/>
            <a:ext cx="15773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47857"/>
                </a:solidFill>
              </a:rPr>
              <a:t>NIC1  Active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17420" y="5129784"/>
            <a:ext cx="1577340" cy="329184"/>
          </a:xfrm>
          <a:prstGeom prst="rect">
            <a:avLst/>
          </a:prstGeom>
          <a:solidFill>
            <a:srgbClr val="FFFFFF"/>
          </a:solidFill>
          <a:ln w="19050">
            <a:solidFill>
              <a:srgbClr val="64748B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2217420" y="5129784"/>
            <a:ext cx="15773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</a:rPr>
              <a:t>NIC2  Standby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" y="555040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관리망 IP: </a:t>
            </a:r>
            <a:r>
              <a:rPr lang="en-US" sz="1100" b="1" dirty="0">
                <a:solidFill>
                  <a:srgbClr val="B45309"/>
                </a:solidFill>
              </a:rPr>
              <a:t>192.168.10.111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148840" y="1691640"/>
            <a:ext cx="0" cy="228600"/>
          </a:xfrm>
          <a:prstGeom prst="line">
            <a:avLst/>
          </a:prstGeom>
          <a:noFill/>
          <a:ln w="15875">
            <a:solidFill>
              <a:srgbClr val="B45309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2148840" y="5669280"/>
            <a:ext cx="0" cy="228600"/>
          </a:xfrm>
          <a:prstGeom prst="line">
            <a:avLst/>
          </a:prstGeom>
          <a:noFill/>
          <a:ln w="22225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4251960" y="1920240"/>
            <a:ext cx="36576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4251960" y="1920240"/>
            <a:ext cx="3657600" cy="7772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4416552" y="1920240"/>
            <a:ext cx="33284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</a:rPr>
              <a:t>Application Tier</a:t>
            </a:r>
            <a:endParaRPr lang="en-US" sz="10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WAS Server  </a:t>
            </a:r>
            <a:r>
              <a:rPr lang="en-US" sz="1200" dirty="0">
                <a:solidFill>
                  <a:srgbClr val="E0E7FF"/>
                </a:solidFill>
              </a:rPr>
              <a:t>was01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434840" y="28346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4748B"/>
                </a:solidFill>
              </a:rPr>
              <a:t>Services / Role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471416" y="3172968"/>
            <a:ext cx="73152" cy="7315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4617720" y="3090672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Apache Tomcat 9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471416" y="3419856"/>
            <a:ext cx="73152" cy="7315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4617720" y="3337560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OpenJDK 17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471416" y="3666744"/>
            <a:ext cx="73152" cy="7315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4617720" y="3584448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Spring Boot (WAR 배포)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471416" y="3913632"/>
            <a:ext cx="73152" cy="7315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4617720" y="3831336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NTP Client → web01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434840" y="4123944"/>
            <a:ext cx="3291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4434840" y="42336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4748B"/>
                </a:solidFill>
              </a:rPr>
              <a:t>Network  ·  bonding mode=1 (A/S)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434840" y="4489704"/>
            <a:ext cx="3291840" cy="548640"/>
          </a:xfrm>
          <a:prstGeom prst="rect">
            <a:avLst/>
          </a:prstGeom>
          <a:solidFill>
            <a:srgbClr val="F8FAFC"/>
          </a:solidFill>
          <a:ln w="15875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4434840" y="448970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490"/>
                </a:solidFill>
              </a:rPr>
              <a:t>bond0</a:t>
            </a:r>
            <a:endParaRPr lang="en-US" sz="11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</a:rPr>
              <a:t>10.10.10.12 (관리)   /   10.10.10.22 (서비스)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434840" y="5129784"/>
            <a:ext cx="1577340" cy="329184"/>
          </a:xfrm>
          <a:prstGeom prst="rect">
            <a:avLst/>
          </a:prstGeom>
          <a:solidFill>
            <a:srgbClr val="FFFFFF"/>
          </a:solidFill>
          <a:ln w="1905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4434840" y="5129784"/>
            <a:ext cx="15773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47857"/>
                </a:solidFill>
              </a:rPr>
              <a:t>NIC1  Active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149340" y="5129784"/>
            <a:ext cx="1577340" cy="329184"/>
          </a:xfrm>
          <a:prstGeom prst="rect">
            <a:avLst/>
          </a:prstGeom>
          <a:solidFill>
            <a:srgbClr val="FFFFFF"/>
          </a:solidFill>
          <a:ln w="19050">
            <a:solidFill>
              <a:srgbClr val="64748B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6149340" y="5129784"/>
            <a:ext cx="15773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</a:rPr>
              <a:t>NIC2  Standby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434840" y="555040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관리망 IP: </a:t>
            </a:r>
            <a:r>
              <a:rPr lang="en-US" sz="1100" b="1" dirty="0">
                <a:solidFill>
                  <a:srgbClr val="B45309"/>
                </a:solidFill>
              </a:rPr>
              <a:t>192.168.10.112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080760" y="1691640"/>
            <a:ext cx="0" cy="228600"/>
          </a:xfrm>
          <a:prstGeom prst="line">
            <a:avLst/>
          </a:prstGeom>
          <a:noFill/>
          <a:ln w="15875">
            <a:solidFill>
              <a:srgbClr val="B45309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6080760" y="5669280"/>
            <a:ext cx="0" cy="228600"/>
          </a:xfrm>
          <a:prstGeom prst="line">
            <a:avLst/>
          </a:prstGeom>
          <a:noFill/>
          <a:ln w="22225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8183880" y="1920240"/>
            <a:ext cx="36576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8183880" y="1920240"/>
            <a:ext cx="3657600" cy="7772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/>
          <p:nvPr/>
        </p:nvSpPr>
        <p:spPr>
          <a:xfrm>
            <a:off x="8348472" y="1920240"/>
            <a:ext cx="33284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</a:rPr>
              <a:t>Data Tier</a:t>
            </a:r>
            <a:endParaRPr lang="en-US" sz="10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DB Server  </a:t>
            </a:r>
            <a:r>
              <a:rPr lang="en-US" sz="1200" dirty="0">
                <a:solidFill>
                  <a:srgbClr val="E0E7FF"/>
                </a:solidFill>
              </a:rPr>
              <a:t>db01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8366760" y="28346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4748B"/>
                </a:solidFill>
              </a:rPr>
              <a:t>Services / Role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8403336" y="3172968"/>
            <a:ext cx="73152" cy="73152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8549640" y="3090672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PostgreSQL 15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8403336" y="3419856"/>
            <a:ext cx="73152" cy="73152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7"/>
          <p:cNvSpPr/>
          <p:nvPr/>
        </p:nvSpPr>
        <p:spPr>
          <a:xfrm>
            <a:off x="8549640" y="3337560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WAL Archive (/pgwal)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8403336" y="3666744"/>
            <a:ext cx="73152" cy="73152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/>
          <p:cNvSpPr/>
          <p:nvPr/>
        </p:nvSpPr>
        <p:spPr>
          <a:xfrm>
            <a:off x="8549640" y="3584448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pg_dump 백업 (/pgbackup)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8403336" y="3913632"/>
            <a:ext cx="73152" cy="73152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1"/>
          <p:cNvSpPr/>
          <p:nvPr/>
        </p:nvSpPr>
        <p:spPr>
          <a:xfrm>
            <a:off x="8549640" y="3831336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NTP Client → web01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8366760" y="4123944"/>
            <a:ext cx="3291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3"/>
          <p:cNvSpPr/>
          <p:nvPr/>
        </p:nvSpPr>
        <p:spPr>
          <a:xfrm>
            <a:off x="8366760" y="42336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4748B"/>
                </a:solidFill>
              </a:rPr>
              <a:t>Network  ·  bonding mode=1 (A/S)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8366760" y="4489704"/>
            <a:ext cx="3291840" cy="548640"/>
          </a:xfrm>
          <a:prstGeom prst="rect">
            <a:avLst/>
          </a:prstGeom>
          <a:solidFill>
            <a:srgbClr val="F8FAFC"/>
          </a:solidFill>
          <a:ln w="15875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5"/>
          <p:cNvSpPr/>
          <p:nvPr/>
        </p:nvSpPr>
        <p:spPr>
          <a:xfrm>
            <a:off x="8366760" y="448970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47857"/>
                </a:solidFill>
              </a:rPr>
              <a:t>bond0</a:t>
            </a:r>
            <a:endParaRPr lang="en-US" sz="11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</a:rPr>
              <a:t>10.10.10.13 (관리)   /   10.10.10.23 (서비스)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8366760" y="5129784"/>
            <a:ext cx="1577340" cy="329184"/>
          </a:xfrm>
          <a:prstGeom prst="rect">
            <a:avLst/>
          </a:prstGeom>
          <a:solidFill>
            <a:srgbClr val="FFFFFF"/>
          </a:solidFill>
          <a:ln w="1905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7"/>
          <p:cNvSpPr/>
          <p:nvPr/>
        </p:nvSpPr>
        <p:spPr>
          <a:xfrm>
            <a:off x="8366760" y="5129784"/>
            <a:ext cx="15773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47857"/>
                </a:solidFill>
              </a:rPr>
              <a:t>NIC1  Active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10081260" y="5129784"/>
            <a:ext cx="1577340" cy="329184"/>
          </a:xfrm>
          <a:prstGeom prst="rect">
            <a:avLst/>
          </a:prstGeom>
          <a:solidFill>
            <a:srgbClr val="FFFFFF"/>
          </a:solidFill>
          <a:ln w="19050">
            <a:solidFill>
              <a:srgbClr val="64748B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Text 69"/>
          <p:cNvSpPr/>
          <p:nvPr/>
        </p:nvSpPr>
        <p:spPr>
          <a:xfrm>
            <a:off x="10081260" y="5129784"/>
            <a:ext cx="15773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</a:rPr>
              <a:t>NIC2  Standby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8366760" y="555040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관리망 IP: </a:t>
            </a:r>
            <a:r>
              <a:rPr lang="en-US" sz="1100" b="1" dirty="0">
                <a:solidFill>
                  <a:srgbClr val="B45309"/>
                </a:solidFill>
              </a:rPr>
              <a:t>192.168.10.113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10012680" y="1691640"/>
            <a:ext cx="0" cy="228600"/>
          </a:xfrm>
          <a:prstGeom prst="line">
            <a:avLst/>
          </a:prstGeom>
          <a:noFill/>
          <a:ln w="15875">
            <a:solidFill>
              <a:srgbClr val="B45309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2"/>
          <p:cNvSpPr/>
          <p:nvPr/>
        </p:nvSpPr>
        <p:spPr>
          <a:xfrm>
            <a:off x="10012680" y="5669280"/>
            <a:ext cx="0" cy="228600"/>
          </a:xfrm>
          <a:prstGeom prst="line">
            <a:avLst/>
          </a:prstGeom>
          <a:noFill/>
          <a:ln w="22225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3"/>
          <p:cNvSpPr/>
          <p:nvPr/>
        </p:nvSpPr>
        <p:spPr>
          <a:xfrm>
            <a:off x="365760" y="5897880"/>
            <a:ext cx="11430000" cy="502920"/>
          </a:xfrm>
          <a:prstGeom prst="rect">
            <a:avLst/>
          </a:prstGeom>
          <a:solidFill>
            <a:srgbClr val="D1FAE5"/>
          </a:solidFill>
          <a:ln w="1905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Text 74"/>
          <p:cNvSpPr/>
          <p:nvPr/>
        </p:nvSpPr>
        <p:spPr>
          <a:xfrm>
            <a:off x="548640" y="58978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47857"/>
                </a:solidFill>
              </a:rPr>
              <a:t>서비스망 (Service Network)   </a:t>
            </a:r>
            <a:r>
              <a:rPr lang="en-US" sz="1200" dirty="0">
                <a:solidFill>
                  <a:srgbClr val="1F2937"/>
                </a:solidFill>
              </a:rPr>
              <a:t>10.10.10.0/24    GW: 10.10.10.1    ·    bonding mode=1 active-standby</a:t>
            </a:r>
            <a:endParaRPr lang="en-US" sz="1300" dirty="0"/>
          </a:p>
        </p:txBody>
      </p:sp>
      <p:sp>
        <p:nvSpPr>
          <p:cNvPr id="77" name="Text 75"/>
          <p:cNvSpPr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</a:rPr>
              <a:t>Traffic Flow: </a:t>
            </a:r>
            <a:r>
              <a:rPr lang="en-US" sz="1000" dirty="0">
                <a:solidFill>
                  <a:srgbClr val="64748B"/>
                </a:solidFill>
              </a:rPr>
              <a:t>사용자 → Apache(web01:80) → AJP → Tomcat(was01:8009) → JDBC → PostgreSQL(db01:5432)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 IP / 역할 / LVM 요약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Server Specification Summary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11430000" cy="210312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서버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5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역할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5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관리망 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(192.168.10.0/24)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5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서비스망 기본 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(bond0)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5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서비스망 서비스 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(bond0 secondary)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5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 · DNF Repo · NTP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192.168.10.111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10.10.10.11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10.10.10.21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Tomcat · JDK17 · Spring Boot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192.168.10.112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10.10.10.12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10.10.10.22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192.168.10.113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10.10.10.13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10.10.10.23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374904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554"/>
                </a:solidFill>
              </a:rPr>
              <a:t>공통 환경 설정</a:t>
            </a:r>
            <a:endParaRPr lang="en-US" sz="1600" dirty="0"/>
          </a:p>
        </p:txBody>
      </p:sp>
      <p:graphicFrame>
        <p:nvGraphicFramePr>
          <p:cNvPr id="6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4160520"/>
          <a:ext cx="11430000" cy="2542032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항목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5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설정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5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5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Rocky Linux 8.10 (minimal)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폐쇄망 (no internet)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mode=1 (active-standby), miimon=100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서비스망 NIC 2장 본딩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LVM 구성 (rootvg + 역할별 vg)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DB는 /pgdata, /pgwal, /pgbackup 분리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DNF Repo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web01 = HTTP 저장소 서버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was01 / db01 → web01 참조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NTP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web01 = chrony 서버 (local stratum 8)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was01 / db01 → web01 동기화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Kernel Tuning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역할별 sysctl 튜닝 적용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WEB: somaxconn, WAS: swappiness, DB: shmmax 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554"/>
                </a:solidFill>
              </a:rPr>
              <a:t>2차 확장 구성 — Phase 2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HA Cluster (Pacemaker)  ·  Redis Cache  ·  Batch (Shell → Ansible)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1430000" cy="411480"/>
          </a:xfrm>
          <a:prstGeom prst="rect">
            <a:avLst/>
          </a:prstGeom>
          <a:solidFill>
            <a:srgbClr val="FEF3C7"/>
          </a:solidFill>
          <a:ln w="15875">
            <a:solidFill>
              <a:srgbClr val="B45309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5309"/>
                </a:solidFill>
              </a:rPr>
              <a:t>관리망  </a:t>
            </a:r>
            <a:r>
              <a:rPr lang="en-US" sz="1100" dirty="0">
                <a:solidFill>
                  <a:srgbClr val="1F2937"/>
                </a:solidFill>
              </a:rPr>
              <a:t>192.168.10.0/24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783080"/>
            <a:ext cx="36576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20040" y="1783080"/>
            <a:ext cx="3657600" cy="7315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84632" y="1783080"/>
            <a:ext cx="3328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WEB Cluster (HA A/S)</a:t>
            </a:r>
            <a:endParaRPr lang="en-US" sz="1500" dirty="0"/>
          </a:p>
          <a:p>
            <a:pPr marL="0" indent="0">
              <a:buNone/>
            </a:pPr>
            <a:r>
              <a:rPr lang="en-US" sz="1000" i="1" dirty="0">
                <a:solidFill>
                  <a:srgbClr val="E0E7FF"/>
                </a:solidFill>
              </a:rPr>
              <a:t>Pacemaker + Corosync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2624328"/>
            <a:ext cx="3291840" cy="457200"/>
          </a:xfrm>
          <a:prstGeom prst="rect">
            <a:avLst/>
          </a:prstGeom>
          <a:solidFill>
            <a:srgbClr val="F8FAFC"/>
          </a:solidFill>
          <a:ln w="1905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02920" y="262432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8A"/>
                </a:solidFill>
              </a:rPr>
              <a:t>VIP </a:t>
            </a:r>
            <a:r>
              <a:rPr lang="en-US" sz="1400" b="1" dirty="0">
                <a:solidFill>
                  <a:srgbClr val="1F2937"/>
                </a:solidFill>
              </a:rPr>
              <a:t>10.10.10.21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3191256"/>
            <a:ext cx="15773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02920" y="3191256"/>
            <a:ext cx="15773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8A"/>
                </a:solidFill>
              </a:rPr>
              <a:t>web01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</a:rPr>
              <a:t>10.10.10.11</a:t>
            </a:r>
            <a:endParaRPr lang="en-US" sz="12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Active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17420" y="3191256"/>
            <a:ext cx="1577340" cy="777240"/>
          </a:xfrm>
          <a:prstGeom prst="rect">
            <a:avLst/>
          </a:prstGeom>
          <a:solidFill>
            <a:srgbClr val="FEF3C7"/>
          </a:solidFill>
          <a:ln w="19050">
            <a:solidFill>
              <a:srgbClr val="B45309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217420" y="3191256"/>
            <a:ext cx="15773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45309"/>
                </a:solidFill>
              </a:rPr>
              <a:t>web02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</a:rPr>
              <a:t>10.10.10.14</a:t>
            </a:r>
            <a:endParaRPr lang="en-US" sz="12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Standby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83280" y="3118104"/>
            <a:ext cx="411480" cy="16459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383280" y="311810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NEW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02920" y="407822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4748B"/>
                </a:solidFill>
              </a:rPr>
              <a:t>Services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39496" y="4398264"/>
            <a:ext cx="73152" cy="73152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85800" y="4325112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Apache HTTPD 2.4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39496" y="4626864"/>
            <a:ext cx="73152" cy="73152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85800" y="4553712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mod_proxy_ajp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39496" y="4855464"/>
            <a:ext cx="73152" cy="73152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85800" y="4782312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DNF Repo (web01만)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39496" y="5084064"/>
            <a:ext cx="73152" cy="73152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85800" y="5010912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NTP Server (web01만)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148840" y="1600200"/>
            <a:ext cx="0" cy="182880"/>
          </a:xfrm>
          <a:prstGeom prst="line">
            <a:avLst/>
          </a:prstGeom>
          <a:noFill/>
          <a:ln w="15875">
            <a:solidFill>
              <a:srgbClr val="B45309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2148840" y="5715000"/>
            <a:ext cx="0" cy="137160"/>
          </a:xfrm>
          <a:prstGeom prst="line">
            <a:avLst/>
          </a:prstGeom>
          <a:noFill/>
          <a:ln w="22225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4251960" y="1783080"/>
            <a:ext cx="36576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4251960" y="1783080"/>
            <a:ext cx="3657600" cy="7315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4416552" y="1783080"/>
            <a:ext cx="3328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WAS Cluster (HA A/S)</a:t>
            </a:r>
            <a:endParaRPr lang="en-US" sz="1500" dirty="0"/>
          </a:p>
          <a:p>
            <a:pPr marL="0" indent="0">
              <a:buNone/>
            </a:pPr>
            <a:r>
              <a:rPr lang="en-US" sz="1000" i="1" dirty="0">
                <a:solidFill>
                  <a:srgbClr val="E0E7FF"/>
                </a:solidFill>
              </a:rPr>
              <a:t>Pacemaker + Corosync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4434840" y="2624328"/>
            <a:ext cx="3291840" cy="457200"/>
          </a:xfrm>
          <a:prstGeom prst="rect">
            <a:avLst/>
          </a:prstGeom>
          <a:solidFill>
            <a:srgbClr val="F8FAFC"/>
          </a:solidFill>
          <a:ln w="1905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4434840" y="262432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7490"/>
                </a:solidFill>
              </a:rPr>
              <a:t>VIP </a:t>
            </a:r>
            <a:r>
              <a:rPr lang="en-US" sz="1400" b="1" dirty="0">
                <a:solidFill>
                  <a:srgbClr val="1F2937"/>
                </a:solidFill>
              </a:rPr>
              <a:t>10.10.10.22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434840" y="3191256"/>
            <a:ext cx="15773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4434840" y="3191256"/>
            <a:ext cx="15773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7490"/>
                </a:solidFill>
              </a:rPr>
              <a:t>was01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</a:rPr>
              <a:t>10.10.10.12</a:t>
            </a:r>
            <a:endParaRPr lang="en-US" sz="12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Active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149340" y="3191256"/>
            <a:ext cx="1577340" cy="777240"/>
          </a:xfrm>
          <a:prstGeom prst="rect">
            <a:avLst/>
          </a:prstGeom>
          <a:solidFill>
            <a:srgbClr val="FEF3C7"/>
          </a:solidFill>
          <a:ln w="19050">
            <a:solidFill>
              <a:srgbClr val="B45309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6149340" y="3191256"/>
            <a:ext cx="15773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45309"/>
                </a:solidFill>
              </a:rPr>
              <a:t>was02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</a:rPr>
              <a:t>10.10.10.15</a:t>
            </a:r>
            <a:endParaRPr lang="en-US" sz="12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Standby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315200" y="3118104"/>
            <a:ext cx="411480" cy="16459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7315200" y="311810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NEW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434840" y="407822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4748B"/>
                </a:solidFill>
              </a:rPr>
              <a:t>Services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471416" y="4398264"/>
            <a:ext cx="73152" cy="7315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4617720" y="4325112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Apache Tomcat 9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471416" y="4626864"/>
            <a:ext cx="73152" cy="7315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4617720" y="4553712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OpenJDK 17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471416" y="4855464"/>
            <a:ext cx="73152" cy="73152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4617720" y="4782312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45309"/>
                </a:solidFill>
              </a:rPr>
              <a:t>Spring Boot + Spring Session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471416" y="5084064"/>
            <a:ext cx="73152" cy="73152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4617720" y="5010912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45309"/>
                </a:solidFill>
              </a:rPr>
              <a:t>→ Redis 세션 공유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080760" y="1600200"/>
            <a:ext cx="0" cy="182880"/>
          </a:xfrm>
          <a:prstGeom prst="line">
            <a:avLst/>
          </a:prstGeom>
          <a:noFill/>
          <a:ln w="15875">
            <a:solidFill>
              <a:srgbClr val="B45309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6080760" y="5715000"/>
            <a:ext cx="0" cy="137160"/>
          </a:xfrm>
          <a:prstGeom prst="line">
            <a:avLst/>
          </a:prstGeom>
          <a:noFill/>
          <a:ln w="22225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8183880" y="1783080"/>
            <a:ext cx="36576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8183880" y="1783080"/>
            <a:ext cx="3657600" cy="73152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/>
          <p:nvPr/>
        </p:nvSpPr>
        <p:spPr>
          <a:xfrm>
            <a:off x="8348472" y="1783080"/>
            <a:ext cx="3328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DB + Cache + Batch</a:t>
            </a:r>
            <a:endParaRPr lang="en-US" sz="1500" dirty="0"/>
          </a:p>
          <a:p>
            <a:pPr marL="0" indent="0">
              <a:buNone/>
            </a:pPr>
            <a:r>
              <a:rPr lang="en-US" sz="1000" i="1" dirty="0">
                <a:solidFill>
                  <a:srgbClr val="E0E7FF"/>
                </a:solidFill>
              </a:rPr>
              <a:t>db01 (단독, 다중 역할)</a:t>
            </a:r>
            <a:endParaRPr lang="en-US" sz="1500" dirty="0"/>
          </a:p>
        </p:txBody>
      </p:sp>
      <p:sp>
        <p:nvSpPr>
          <p:cNvPr id="53" name="Shape 51"/>
          <p:cNvSpPr/>
          <p:nvPr/>
        </p:nvSpPr>
        <p:spPr>
          <a:xfrm>
            <a:off x="8366760" y="2624328"/>
            <a:ext cx="3291840" cy="457200"/>
          </a:xfrm>
          <a:prstGeom prst="rect">
            <a:avLst/>
          </a:prstGeom>
          <a:solidFill>
            <a:srgbClr val="F8FAFC"/>
          </a:solidFill>
          <a:ln w="1905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/>
          <p:nvPr/>
        </p:nvSpPr>
        <p:spPr>
          <a:xfrm>
            <a:off x="8366760" y="262432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47857"/>
                </a:solidFill>
              </a:rPr>
              <a:t>IP </a:t>
            </a:r>
            <a:r>
              <a:rPr lang="en-US" sz="1400" b="1" dirty="0">
                <a:solidFill>
                  <a:srgbClr val="1F2937"/>
                </a:solidFill>
              </a:rPr>
              <a:t>10.10.10.23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8366760" y="3191256"/>
            <a:ext cx="15773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/>
          <p:nvPr/>
        </p:nvSpPr>
        <p:spPr>
          <a:xfrm>
            <a:off x="8366760" y="3191256"/>
            <a:ext cx="15773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47857"/>
                </a:solidFill>
              </a:rPr>
              <a:t>db01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</a:rPr>
              <a:t>10.10.10.13</a:t>
            </a:r>
            <a:endParaRPr lang="en-US" sz="12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PostgreSQL 15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10081260" y="3191256"/>
            <a:ext cx="1577340" cy="777240"/>
          </a:xfrm>
          <a:prstGeom prst="rect">
            <a:avLst/>
          </a:prstGeom>
          <a:solidFill>
            <a:srgbClr val="FEF3C7"/>
          </a:solidFill>
          <a:ln w="19050">
            <a:solidFill>
              <a:srgbClr val="B45309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/>
          <p:nvPr/>
        </p:nvSpPr>
        <p:spPr>
          <a:xfrm>
            <a:off x="10081260" y="3191256"/>
            <a:ext cx="15773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45309"/>
                </a:solidFill>
              </a:rPr>
              <a:t>+ Redis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</a:rPr>
              <a:t>:6379</a:t>
            </a:r>
            <a:endParaRPr lang="en-US" sz="12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Cache + Session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11247120" y="3118104"/>
            <a:ext cx="411480" cy="16459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8"/>
          <p:cNvSpPr/>
          <p:nvPr/>
        </p:nvSpPr>
        <p:spPr>
          <a:xfrm>
            <a:off x="11247120" y="311810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NEW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8366760" y="407822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4748B"/>
                </a:solidFill>
              </a:rPr>
              <a:t>Services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8403336" y="4398264"/>
            <a:ext cx="73152" cy="73152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1"/>
          <p:cNvSpPr/>
          <p:nvPr/>
        </p:nvSpPr>
        <p:spPr>
          <a:xfrm>
            <a:off x="8549640" y="4325112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45309"/>
                </a:solidFill>
              </a:rPr>
              <a:t>DW 스키마 (dw_*)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8403336" y="4626864"/>
            <a:ext cx="73152" cy="73152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3"/>
          <p:cNvSpPr/>
          <p:nvPr/>
        </p:nvSpPr>
        <p:spPr>
          <a:xfrm>
            <a:off x="8549640" y="4553712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Shell Batch (cron)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8403336" y="4855464"/>
            <a:ext cx="73152" cy="73152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5"/>
          <p:cNvSpPr/>
          <p:nvPr/>
        </p:nvSpPr>
        <p:spPr>
          <a:xfrm>
            <a:off x="8549640" y="4782312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45309"/>
                </a:solidFill>
              </a:rPr>
              <a:t>→ Ansible 전환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8403336" y="5084064"/>
            <a:ext cx="73152" cy="73152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7"/>
          <p:cNvSpPr/>
          <p:nvPr/>
        </p:nvSpPr>
        <p:spPr>
          <a:xfrm>
            <a:off x="8549640" y="5010912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WAL Archive · pg_dump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10012680" y="1600200"/>
            <a:ext cx="0" cy="182880"/>
          </a:xfrm>
          <a:prstGeom prst="line">
            <a:avLst/>
          </a:prstGeom>
          <a:noFill/>
          <a:ln w="15875">
            <a:solidFill>
              <a:srgbClr val="B45309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9"/>
          <p:cNvSpPr/>
          <p:nvPr/>
        </p:nvSpPr>
        <p:spPr>
          <a:xfrm>
            <a:off x="10012680" y="5715000"/>
            <a:ext cx="0" cy="137160"/>
          </a:xfrm>
          <a:prstGeom prst="line">
            <a:avLst/>
          </a:prstGeom>
          <a:noFill/>
          <a:ln w="22225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70"/>
          <p:cNvSpPr/>
          <p:nvPr/>
        </p:nvSpPr>
        <p:spPr>
          <a:xfrm>
            <a:off x="365760" y="5852160"/>
            <a:ext cx="11430000" cy="411480"/>
          </a:xfrm>
          <a:prstGeom prst="rect">
            <a:avLst/>
          </a:prstGeom>
          <a:solidFill>
            <a:srgbClr val="D1FAE5"/>
          </a:solidFill>
          <a:ln w="1905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Text 71"/>
          <p:cNvSpPr/>
          <p:nvPr/>
        </p:nvSpPr>
        <p:spPr>
          <a:xfrm>
            <a:off x="548640" y="58521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7857"/>
                </a:solidFill>
              </a:rPr>
              <a:t>서비스망  </a:t>
            </a:r>
            <a:r>
              <a:rPr lang="en-US" sz="1100" dirty="0">
                <a:solidFill>
                  <a:srgbClr val="1F2937"/>
                </a:solidFill>
              </a:rPr>
              <a:t>10.10.10.0/24  ·  Pacemaker VIP failover within cluster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365760" y="6400800"/>
            <a:ext cx="182880" cy="1828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Text 73"/>
          <p:cNvSpPr/>
          <p:nvPr/>
        </p:nvSpPr>
        <p:spPr>
          <a:xfrm>
            <a:off x="594360" y="640080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주황색/점선 = Phase 2에서 추가된 컴포넌트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2F3E"/>
                </a:solidFill>
              </a:rPr>
              <a:t>3차 AWS 이관 구성 — Phase 3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AWS Cloud Native  ·  ALB + ASG + RDS Multi-AZ + ElastiCache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623560" y="1005840"/>
            <a:ext cx="9144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32F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623560" y="10058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32F3E"/>
                </a:solidFill>
              </a:rPr>
              <a:t>Internet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11247120" cy="4114800"/>
          </a:xfrm>
          <a:prstGeom prst="rect">
            <a:avLst/>
          </a:prstGeom>
          <a:solidFill>
            <a:srgbClr val="F0F7FC"/>
          </a:solidFill>
          <a:ln w="19050">
            <a:solidFill>
              <a:srgbClr val="146EB4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9436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6EB4"/>
                </a:solidFill>
              </a:rPr>
              <a:t>AWS VPC  ·  10.0.0.0/16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2103120"/>
            <a:ext cx="4846320" cy="5029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657600" y="21031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ALB  ·  Application Load Balancer  (Public Subnet, Multi-AZ)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80760" y="1463040"/>
            <a:ext cx="0" cy="640080"/>
          </a:xfrm>
          <a:prstGeom prst="line">
            <a:avLst/>
          </a:prstGeom>
          <a:noFill/>
          <a:ln w="19050">
            <a:solidFill>
              <a:srgbClr val="232F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40080" y="2834640"/>
            <a:ext cx="5349240" cy="2560320"/>
          </a:xfrm>
          <a:prstGeom prst="rect">
            <a:avLst/>
          </a:prstGeom>
          <a:solidFill>
            <a:srgbClr val="FAFBFC"/>
          </a:solidFill>
          <a:ln w="12700">
            <a:solidFill>
              <a:srgbClr val="146EB4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31520" y="2871216"/>
            <a:ext cx="5166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6EB4"/>
                </a:solidFill>
              </a:rPr>
              <a:t>AZ-a (ap-northeast-2a)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77240" y="3154680"/>
            <a:ext cx="50749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77240" y="315468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9900"/>
                </a:solidFill>
              </a:rPr>
              <a:t>EC2 (WAS)  </a:t>
            </a:r>
            <a:r>
              <a:rPr lang="en-US" sz="1000" dirty="0">
                <a:solidFill>
                  <a:srgbClr val="64748B"/>
                </a:solidFill>
              </a:rPr>
              <a:t>Auto Scaling</a:t>
            </a:r>
            <a:endParaRPr lang="en-US" sz="11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</a:rPr>
              <a:t>Tomcat + Spring Boot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7240" y="3931920"/>
            <a:ext cx="507492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46E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77240" y="393192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6EB4"/>
                </a:solidFill>
              </a:rPr>
              <a:t>RDS PostgreSQL  </a:t>
            </a:r>
            <a:r>
              <a:rPr lang="en-US" sz="900" i="1" dirty="0">
                <a:solidFill>
                  <a:srgbClr val="64748B"/>
                </a:solidFill>
              </a:rPr>
              <a:t>(Primary)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" y="4617720"/>
            <a:ext cx="507492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B8E3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777240" y="461772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8E3F"/>
                </a:solidFill>
              </a:rPr>
              <a:t>ElastiCache  </a:t>
            </a:r>
            <a:r>
              <a:rPr lang="en-US" sz="900" i="1" dirty="0">
                <a:solidFill>
                  <a:srgbClr val="64748B"/>
                </a:solidFill>
              </a:rPr>
              <a:t>for Redis  (Cluster Mode)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14700" y="2606040"/>
            <a:ext cx="0" cy="548640"/>
          </a:xfrm>
          <a:prstGeom prst="line">
            <a:avLst/>
          </a:prstGeom>
          <a:noFill/>
          <a:ln w="15875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6172200" y="2834640"/>
            <a:ext cx="5349240" cy="2560320"/>
          </a:xfrm>
          <a:prstGeom prst="rect">
            <a:avLst/>
          </a:prstGeom>
          <a:solidFill>
            <a:srgbClr val="FAFBFC"/>
          </a:solidFill>
          <a:ln w="12700">
            <a:solidFill>
              <a:srgbClr val="146EB4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263640" y="2871216"/>
            <a:ext cx="5166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6EB4"/>
                </a:solidFill>
              </a:rPr>
              <a:t>AZ-c (ap-northeast-2c)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309360" y="3154680"/>
            <a:ext cx="50749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309360" y="315468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9900"/>
                </a:solidFill>
              </a:rPr>
              <a:t>EC2 (WAS)  </a:t>
            </a:r>
            <a:r>
              <a:rPr lang="en-US" sz="1000" dirty="0">
                <a:solidFill>
                  <a:srgbClr val="64748B"/>
                </a:solidFill>
              </a:rPr>
              <a:t>Auto Scaling</a:t>
            </a:r>
            <a:endParaRPr lang="en-US" sz="11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</a:rPr>
              <a:t>Tomcat + Spring Boot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09360" y="3931920"/>
            <a:ext cx="507492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46E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309360" y="393192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6EB4"/>
                </a:solidFill>
              </a:rPr>
              <a:t>RDS PostgreSQL  </a:t>
            </a:r>
            <a:r>
              <a:rPr lang="en-US" sz="900" i="1" dirty="0">
                <a:solidFill>
                  <a:srgbClr val="64748B"/>
                </a:solidFill>
              </a:rPr>
              <a:t>(Standby, Multi-AZ)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09360" y="4617720"/>
            <a:ext cx="507492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B8E3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309360" y="461772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8E3F"/>
                </a:solidFill>
              </a:rPr>
              <a:t>ElastiCache  </a:t>
            </a:r>
            <a:r>
              <a:rPr lang="en-US" sz="900" i="1" dirty="0">
                <a:solidFill>
                  <a:srgbClr val="64748B"/>
                </a:solidFill>
              </a:rPr>
              <a:t>for Redis  (Cluster Mode)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846820" y="2606040"/>
            <a:ext cx="0" cy="548640"/>
          </a:xfrm>
          <a:prstGeom prst="line">
            <a:avLst/>
          </a:prstGeom>
          <a:noFill/>
          <a:ln w="15875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365760" y="594360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32F3E"/>
                </a:solidFill>
              </a:rPr>
              <a:t>Batch:  </a:t>
            </a:r>
            <a:r>
              <a:rPr lang="en-US" sz="1100" dirty="0">
                <a:solidFill>
                  <a:srgbClr val="1F2937"/>
                </a:solidFill>
              </a:rPr>
              <a:t>EventBridge + Lambda (경량) 또는 AWS Batch (대용량)   </a:t>
            </a:r>
            <a:r>
              <a:rPr lang="en-US" sz="1100" b="1" dirty="0">
                <a:solidFill>
                  <a:srgbClr val="232F3E"/>
                </a:solidFill>
              </a:rPr>
              <a:t> |   IaC:  </a:t>
            </a:r>
            <a:r>
              <a:rPr lang="en-US" sz="1100" dirty="0">
                <a:solidFill>
                  <a:srgbClr val="1F2937"/>
                </a:solidFill>
              </a:rPr>
              <a:t>Systems Manager + Ansible 또는 Terraform 전환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5760" y="6355080"/>
            <a:ext cx="1143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주요 매핑:  Apache HA → ALB   |   Tomcat HA → EC2 ASG   |   PostgreSQL → RDS Multi-AZ   |   Redis → ElastiCache   |   Pacemaker → 제거 (AWS 네이티브 HA)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554"/>
                </a:solidFill>
              </a:rPr>
              <a:t>프로젝트 로드맵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Phase 1 → Phase 2 → Phase 3   ·   Full Stack Infrastructure Portfolio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9144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965960" y="1234440"/>
            <a:ext cx="365760" cy="365760"/>
          </a:xfrm>
          <a:prstGeom prst="ellipse">
            <a:avLst/>
          </a:prstGeom>
          <a:solidFill>
            <a:srgbClr val="1E3A8A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20040" y="1783080"/>
            <a:ext cx="36576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20040" y="1783080"/>
            <a:ext cx="3657600" cy="8686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02920" y="17830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Phase 1</a:t>
            </a:r>
            <a:endParaRPr lang="en-US" sz="2200" dirty="0"/>
          </a:p>
          <a:p>
            <a:pPr marL="0" indent="0">
              <a:buNone/>
            </a:pPr>
            <a:r>
              <a:rPr lang="en-US" sz="1200" dirty="0">
                <a:solidFill>
                  <a:srgbClr val="E0E7FF"/>
                </a:solidFill>
              </a:rPr>
              <a:t>기반 인프라 구축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2920" y="2743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E3A8A"/>
                </a:solidFill>
              </a:rPr>
              <a:t>INFRA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36392"/>
            <a:ext cx="91440" cy="9144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31520" y="3063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Rocky Linux 8.10 × 3 VM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91440" cy="9144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731520" y="33558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Network bonding (A/S)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721608"/>
            <a:ext cx="91440" cy="9144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731520" y="364845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LVM 디스크 설계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014216"/>
            <a:ext cx="91440" cy="9144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31520" y="394106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DNF 로컬 저장소 (web01)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306824"/>
            <a:ext cx="91440" cy="9144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731520" y="4233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NTP 서버 (web01)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599432"/>
            <a:ext cx="91440" cy="9144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731520" y="4526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Kernel 튜닝 (역할별)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892040"/>
            <a:ext cx="91440" cy="9144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731520" y="48188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Apache + Tomcat (AJP)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184648"/>
            <a:ext cx="91440" cy="9144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731520" y="51114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PostgreSQL 15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5477256"/>
            <a:ext cx="91440" cy="9144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731520" y="540410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Spring Boot 야채가게 앱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897880" y="1234440"/>
            <a:ext cx="365760" cy="365760"/>
          </a:xfrm>
          <a:prstGeom prst="ellipse">
            <a:avLst/>
          </a:prstGeom>
          <a:solidFill>
            <a:srgbClr val="B45309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4251960" y="1783080"/>
            <a:ext cx="36576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4251960" y="1783080"/>
            <a:ext cx="3657600" cy="8686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4434840" y="17830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Phase 2</a:t>
            </a:r>
            <a:endParaRPr lang="en-US" sz="2200" dirty="0"/>
          </a:p>
          <a:p>
            <a:pPr marL="0" indent="0">
              <a:buNone/>
            </a:pPr>
            <a:r>
              <a:rPr lang="en-US" sz="1200" dirty="0">
                <a:solidFill>
                  <a:srgbClr val="E0E7FF"/>
                </a:solidFill>
              </a:rPr>
              <a:t>가용성 + 성능 + 자동화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4434840" y="2743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B45309"/>
                </a:solidFill>
              </a:rPr>
              <a:t>HA + AUTOMATION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480560" y="3136392"/>
            <a:ext cx="91440" cy="9144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4663440" y="3063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web02 / was02 노드 추가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480560" y="3429000"/>
            <a:ext cx="91440" cy="9144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4663440" y="33558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Pacemaker + Corosync HA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480560" y="3721608"/>
            <a:ext cx="91440" cy="9144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4663440" y="364845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VIP failover 구성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480560" y="4014216"/>
            <a:ext cx="91440" cy="9144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4663440" y="394106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Redis cache 도입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480560" y="4306824"/>
            <a:ext cx="91440" cy="9144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4663440" y="4233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Spring Session + Redis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480560" y="4599432"/>
            <a:ext cx="91440" cy="9144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4663440" y="4526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DW 스키마 + 집계 테이블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480560" y="4892040"/>
            <a:ext cx="91440" cy="9144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4663440" y="48188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Shell + cron 배치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480560" y="5184648"/>
            <a:ext cx="91440" cy="9144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4663440" y="51114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Ansible 전환 (IaC)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480560" y="5477256"/>
            <a:ext cx="91440" cy="9144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4663440" y="540410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구성 자동화 검증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9829800" y="1234440"/>
            <a:ext cx="365760" cy="365760"/>
          </a:xfrm>
          <a:prstGeom prst="ellipse">
            <a:avLst/>
          </a:prstGeom>
          <a:solidFill>
            <a:srgbClr val="0E749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8183880" y="1783080"/>
            <a:ext cx="36576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8183880" y="1783080"/>
            <a:ext cx="3657600" cy="8686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/>
          <p:nvPr/>
        </p:nvSpPr>
        <p:spPr>
          <a:xfrm>
            <a:off x="8366760" y="17830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Phase 3</a:t>
            </a:r>
            <a:endParaRPr lang="en-US" sz="2200" dirty="0"/>
          </a:p>
          <a:p>
            <a:pPr marL="0" indent="0">
              <a:buNone/>
            </a:pPr>
            <a:r>
              <a:rPr lang="en-US" sz="1200" dirty="0">
                <a:solidFill>
                  <a:srgbClr val="E0E7FF"/>
                </a:solidFill>
              </a:rPr>
              <a:t>클라우드 전환</a:t>
            </a:r>
            <a:endParaRPr lang="en-US" sz="2200" dirty="0"/>
          </a:p>
        </p:txBody>
      </p:sp>
      <p:sp>
        <p:nvSpPr>
          <p:cNvPr id="55" name="Text 53"/>
          <p:cNvSpPr/>
          <p:nvPr/>
        </p:nvSpPr>
        <p:spPr>
          <a:xfrm>
            <a:off x="8366760" y="2743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E7490"/>
                </a:solidFill>
              </a:rPr>
              <a:t>CLOUD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8412480" y="3136392"/>
            <a:ext cx="91440" cy="914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8595360" y="3063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AWS VPC 설계 (Multi-AZ)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8412480" y="3429000"/>
            <a:ext cx="91440" cy="914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7"/>
          <p:cNvSpPr/>
          <p:nvPr/>
        </p:nvSpPr>
        <p:spPr>
          <a:xfrm>
            <a:off x="8595360" y="33558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ALB + EC2 ASG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8412480" y="3721608"/>
            <a:ext cx="91440" cy="914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/>
          <p:cNvSpPr/>
          <p:nvPr/>
        </p:nvSpPr>
        <p:spPr>
          <a:xfrm>
            <a:off x="8595360" y="364845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RDS PostgreSQL Multi-AZ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8412480" y="4014216"/>
            <a:ext cx="91440" cy="914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1"/>
          <p:cNvSpPr/>
          <p:nvPr/>
        </p:nvSpPr>
        <p:spPr>
          <a:xfrm>
            <a:off x="8595360" y="394106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ElastiCache for Redis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8412480" y="4306824"/>
            <a:ext cx="91440" cy="914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3"/>
          <p:cNvSpPr/>
          <p:nvPr/>
        </p:nvSpPr>
        <p:spPr>
          <a:xfrm>
            <a:off x="8595360" y="4233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EventBridge + Lambda 배치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8412480" y="4599432"/>
            <a:ext cx="91440" cy="914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5"/>
          <p:cNvSpPr/>
          <p:nvPr/>
        </p:nvSpPr>
        <p:spPr>
          <a:xfrm>
            <a:off x="8595360" y="4526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Systems Manager + SSM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8412480" y="4892040"/>
            <a:ext cx="91440" cy="914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7"/>
          <p:cNvSpPr/>
          <p:nvPr/>
        </p:nvSpPr>
        <p:spPr>
          <a:xfrm>
            <a:off x="8595360" y="48188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데이터 마이그레이션 (DMS)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8412480" y="5184648"/>
            <a:ext cx="91440" cy="914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Text 69"/>
          <p:cNvSpPr/>
          <p:nvPr/>
        </p:nvSpPr>
        <p:spPr>
          <a:xfrm>
            <a:off x="8595360" y="51114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비용/성능 최적화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8412480" y="5477256"/>
            <a:ext cx="91440" cy="914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Text 71"/>
          <p:cNvSpPr/>
          <p:nvPr/>
        </p:nvSpPr>
        <p:spPr>
          <a:xfrm>
            <a:off x="8595360" y="540410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CloudWatch 모니터링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3977640" y="1417320"/>
            <a:ext cx="2743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3"/>
          <p:cNvSpPr/>
          <p:nvPr/>
        </p:nvSpPr>
        <p:spPr>
          <a:xfrm>
            <a:off x="7909560" y="1417320"/>
            <a:ext cx="2743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849</Words>
  <Application>Microsoft Office PowerPoint</Application>
  <PresentationFormat>와이드스크린</PresentationFormat>
  <Paragraphs>201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3-Tier 폐쇄망 시스템 구성도</dc:title>
  <dc:subject>PptxGenJS Presentation</dc:subject>
  <dc:creator>Architecture Design</dc:creator>
  <cp:lastModifiedBy>기호 이</cp:lastModifiedBy>
  <cp:revision>1</cp:revision>
  <dcterms:created xsi:type="dcterms:W3CDTF">2026-05-26T04:16:33Z</dcterms:created>
  <dcterms:modified xsi:type="dcterms:W3CDTF">2026-05-26T04:19:23Z</dcterms:modified>
</cp:coreProperties>
</file>